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8C81-744C-364D-ADDD-44FB5DFFE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36C6E-4DBB-4737-4E0D-23FB7DB08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122F0-1179-6F46-C4A9-9E5B78D8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613A0-D4E6-A332-3835-330EEF92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30EA9-5164-B10A-7738-452D30F2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272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701C-9175-BA34-5111-2B03CF13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9B51-4434-B133-84A9-D338E541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FA2A7-DABA-9D74-C053-5E483734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1C1C-3588-1C0F-686B-5ABCDED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E627C-81E9-A9D3-4391-151AC5B1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921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14BD-1F84-B80F-A4F4-1AB2A26A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0652C-1711-61A9-9B21-E54936819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C9C70-D526-8789-E203-36A21E7B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DE191-A85D-A6CF-37BD-E96BF77BF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01848-2426-3CFD-99F5-7D4A2C13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360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996C-52EC-134C-23DA-3F9BFB57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DF37-DE23-91BD-980D-256B36BAB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BF45A-C4B1-33F6-9EA4-4D6002D46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46AAA-B5E0-24B1-1FD1-98EBAADE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36C66-C650-4389-B2D2-6C33EBD2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B69C2-FC4C-F7A3-0A71-3CB78874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910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6A17-165B-5B91-B8EA-E8EF6E54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17657-B6DE-51BD-8C04-7D2721E4E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4ED29-22A9-7AAA-89E5-E1570E423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39FD4-8F9E-94A0-04E0-7AEA2FFB3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79BC5-2A95-89EC-CBFE-FE1CB8233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2A03A-8F58-BAE3-F6FC-7760829A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D337B-9A42-BE29-75A6-AC10283C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6FAEE0-232F-0A35-572C-66DED88B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724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2EB5-3F75-0154-5B13-023E9679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408CA-C1B7-68A4-6B0E-0A4F67DE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5BA41-8554-D12E-6865-9F122C74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9C93B-5DF3-88AC-B094-93A163D1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245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DF7D3-A90A-92AE-E3E4-9CBA7788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E29428-F156-1DCA-5C16-E49DD6E1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0D6C7-D8CF-2B09-45CE-EE287AE7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802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0EE9-E158-7588-F2C5-728C4D52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BBB44-70BD-F60B-D4D9-86E6C337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FC602-FB6B-40FF-B00C-4FE0F54B6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D483E-0910-425F-712E-48707724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4A30F-34A9-2ED9-2209-19A97788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39D11-3A62-034B-D364-01945961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492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5532-0352-15CD-F264-D10885C5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3F7899-1C29-DEBC-81A8-EE454C646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D1047-B635-8FA9-7409-39D36C039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DF67D-3407-7C99-4A68-4361613C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459BC-CB66-5385-7F3D-B1540FA3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95B97-167D-9C7A-109C-35412B2B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889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969E-874E-241E-0931-4426B743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B45C2-E890-B308-64F1-4E7693027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ADA7D-B48F-0AEF-23FE-6F4FF8C5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7D88E-A82E-3928-DAA0-D2505E77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BB650-9E9F-539E-54C1-8FE01B05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100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67964-5D9F-FD06-DE16-7189061E9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B455D-F2F0-186D-CC43-82B990B2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FA6BC-2591-1E19-C17D-803B0242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EA96F-7B59-60DD-FCA1-E1F0A6ED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0F366-FCAF-4FCE-B030-9D3A80F3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472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75" cy="68579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"/>
            <a:ext cx="12192000" cy="6841913"/>
          </a:xfrm>
          <a:custGeom>
            <a:avLst/>
            <a:gdLst/>
            <a:ahLst/>
            <a:cxnLst/>
            <a:rect l="l" t="t" r="r" b="b"/>
            <a:pathLst>
              <a:path w="9144000" h="5131435">
                <a:moveTo>
                  <a:pt x="9143999" y="5131139"/>
                </a:moveTo>
                <a:lnTo>
                  <a:pt x="0" y="513113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31139"/>
                </a:lnTo>
                <a:close/>
              </a:path>
            </a:pathLst>
          </a:custGeom>
          <a:solidFill>
            <a:srgbClr val="CF1010">
              <a:alpha val="32579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bg object 18"/>
          <p:cNvSpPr/>
          <p:nvPr/>
        </p:nvSpPr>
        <p:spPr>
          <a:xfrm>
            <a:off x="6984119" y="643533"/>
            <a:ext cx="3506047" cy="5715000"/>
          </a:xfrm>
          <a:custGeom>
            <a:avLst/>
            <a:gdLst/>
            <a:ahLst/>
            <a:cxnLst/>
            <a:rect l="l" t="t" r="r" b="b"/>
            <a:pathLst>
              <a:path w="2629534" h="4286250">
                <a:moveTo>
                  <a:pt x="2629408" y="1309154"/>
                </a:moveTo>
                <a:lnTo>
                  <a:pt x="2625153" y="1255331"/>
                </a:lnTo>
                <a:lnTo>
                  <a:pt x="2612631" y="1203325"/>
                </a:lnTo>
                <a:lnTo>
                  <a:pt x="2592222" y="1154049"/>
                </a:lnTo>
                <a:lnTo>
                  <a:pt x="2564307" y="1108417"/>
                </a:lnTo>
                <a:lnTo>
                  <a:pt x="2529268" y="1067346"/>
                </a:lnTo>
                <a:lnTo>
                  <a:pt x="1562061" y="100164"/>
                </a:lnTo>
                <a:lnTo>
                  <a:pt x="1527048" y="69557"/>
                </a:lnTo>
                <a:lnTo>
                  <a:pt x="1489151" y="44513"/>
                </a:lnTo>
                <a:lnTo>
                  <a:pt x="1448943" y="25044"/>
                </a:lnTo>
                <a:lnTo>
                  <a:pt x="1407007" y="11137"/>
                </a:lnTo>
                <a:lnTo>
                  <a:pt x="1363929" y="2781"/>
                </a:lnTo>
                <a:lnTo>
                  <a:pt x="1320266" y="0"/>
                </a:lnTo>
                <a:lnTo>
                  <a:pt x="1276604" y="2781"/>
                </a:lnTo>
                <a:lnTo>
                  <a:pt x="1233525" y="11137"/>
                </a:lnTo>
                <a:lnTo>
                  <a:pt x="1191590" y="25044"/>
                </a:lnTo>
                <a:lnTo>
                  <a:pt x="1151382" y="44513"/>
                </a:lnTo>
                <a:lnTo>
                  <a:pt x="1113485" y="69557"/>
                </a:lnTo>
                <a:lnTo>
                  <a:pt x="1078471" y="100164"/>
                </a:lnTo>
                <a:lnTo>
                  <a:pt x="100164" y="1078445"/>
                </a:lnTo>
                <a:lnTo>
                  <a:pt x="69557" y="1113472"/>
                </a:lnTo>
                <a:lnTo>
                  <a:pt x="44526" y="1151369"/>
                </a:lnTo>
                <a:lnTo>
                  <a:pt x="25044" y="1191577"/>
                </a:lnTo>
                <a:lnTo>
                  <a:pt x="11137" y="1233512"/>
                </a:lnTo>
                <a:lnTo>
                  <a:pt x="2794" y="1276591"/>
                </a:lnTo>
                <a:lnTo>
                  <a:pt x="0" y="1320253"/>
                </a:lnTo>
                <a:lnTo>
                  <a:pt x="2794" y="1363916"/>
                </a:lnTo>
                <a:lnTo>
                  <a:pt x="11137" y="1407007"/>
                </a:lnTo>
                <a:lnTo>
                  <a:pt x="25044" y="1448930"/>
                </a:lnTo>
                <a:lnTo>
                  <a:pt x="44526" y="1489138"/>
                </a:lnTo>
                <a:lnTo>
                  <a:pt x="69557" y="1527035"/>
                </a:lnTo>
                <a:lnTo>
                  <a:pt x="100164" y="1562061"/>
                </a:lnTo>
                <a:lnTo>
                  <a:pt x="686562" y="2148459"/>
                </a:lnTo>
                <a:lnTo>
                  <a:pt x="100164" y="2734843"/>
                </a:lnTo>
                <a:lnTo>
                  <a:pt x="69557" y="2769870"/>
                </a:lnTo>
                <a:lnTo>
                  <a:pt x="44526" y="2807766"/>
                </a:lnTo>
                <a:lnTo>
                  <a:pt x="25044" y="2847975"/>
                </a:lnTo>
                <a:lnTo>
                  <a:pt x="11137" y="2889910"/>
                </a:lnTo>
                <a:lnTo>
                  <a:pt x="2794" y="2933001"/>
                </a:lnTo>
                <a:lnTo>
                  <a:pt x="0" y="2976664"/>
                </a:lnTo>
                <a:lnTo>
                  <a:pt x="2794" y="3020314"/>
                </a:lnTo>
                <a:lnTo>
                  <a:pt x="11137" y="3063405"/>
                </a:lnTo>
                <a:lnTo>
                  <a:pt x="25044" y="3105340"/>
                </a:lnTo>
                <a:lnTo>
                  <a:pt x="44526" y="3145536"/>
                </a:lnTo>
                <a:lnTo>
                  <a:pt x="69557" y="3183432"/>
                </a:lnTo>
                <a:lnTo>
                  <a:pt x="100164" y="3218446"/>
                </a:lnTo>
                <a:lnTo>
                  <a:pt x="1067371" y="4185640"/>
                </a:lnTo>
                <a:lnTo>
                  <a:pt x="1102385" y="4216247"/>
                </a:lnTo>
                <a:lnTo>
                  <a:pt x="1140282" y="4241292"/>
                </a:lnTo>
                <a:lnTo>
                  <a:pt x="1180490" y="4260774"/>
                </a:lnTo>
                <a:lnTo>
                  <a:pt x="1222425" y="4274680"/>
                </a:lnTo>
                <a:lnTo>
                  <a:pt x="1265504" y="4283024"/>
                </a:lnTo>
                <a:lnTo>
                  <a:pt x="1309166" y="4285805"/>
                </a:lnTo>
                <a:lnTo>
                  <a:pt x="1352829" y="4283024"/>
                </a:lnTo>
                <a:lnTo>
                  <a:pt x="1395907" y="4274680"/>
                </a:lnTo>
                <a:lnTo>
                  <a:pt x="1437843" y="4260774"/>
                </a:lnTo>
                <a:lnTo>
                  <a:pt x="1478051" y="4241292"/>
                </a:lnTo>
                <a:lnTo>
                  <a:pt x="1515948" y="4216247"/>
                </a:lnTo>
                <a:lnTo>
                  <a:pt x="1550962" y="4185640"/>
                </a:lnTo>
                <a:lnTo>
                  <a:pt x="2529268" y="3207347"/>
                </a:lnTo>
                <a:lnTo>
                  <a:pt x="2564307" y="3166287"/>
                </a:lnTo>
                <a:lnTo>
                  <a:pt x="2592222" y="3120656"/>
                </a:lnTo>
                <a:lnTo>
                  <a:pt x="2612631" y="3071380"/>
                </a:lnTo>
                <a:lnTo>
                  <a:pt x="2625153" y="3019374"/>
                </a:lnTo>
                <a:lnTo>
                  <a:pt x="2629408" y="2965551"/>
                </a:lnTo>
                <a:lnTo>
                  <a:pt x="2625153" y="2911729"/>
                </a:lnTo>
                <a:lnTo>
                  <a:pt x="2612631" y="2859722"/>
                </a:lnTo>
                <a:lnTo>
                  <a:pt x="2592222" y="2810446"/>
                </a:lnTo>
                <a:lnTo>
                  <a:pt x="2564307" y="2764815"/>
                </a:lnTo>
                <a:lnTo>
                  <a:pt x="2529268" y="2723743"/>
                </a:lnTo>
                <a:lnTo>
                  <a:pt x="1942858" y="2137359"/>
                </a:lnTo>
                <a:lnTo>
                  <a:pt x="2529268" y="1550962"/>
                </a:lnTo>
                <a:lnTo>
                  <a:pt x="2564307" y="1509890"/>
                </a:lnTo>
                <a:lnTo>
                  <a:pt x="2592222" y="1464259"/>
                </a:lnTo>
                <a:lnTo>
                  <a:pt x="2612631" y="1414983"/>
                </a:lnTo>
                <a:lnTo>
                  <a:pt x="2625153" y="1362976"/>
                </a:lnTo>
                <a:lnTo>
                  <a:pt x="2629408" y="1309154"/>
                </a:lnTo>
                <a:close/>
              </a:path>
            </a:pathLst>
          </a:custGeom>
          <a:solidFill>
            <a:srgbClr val="F4B831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bg object 19"/>
          <p:cNvSpPr/>
          <p:nvPr/>
        </p:nvSpPr>
        <p:spPr>
          <a:xfrm>
            <a:off x="7120091" y="0"/>
            <a:ext cx="5072380" cy="6858000"/>
          </a:xfrm>
          <a:custGeom>
            <a:avLst/>
            <a:gdLst/>
            <a:ahLst/>
            <a:cxnLst/>
            <a:rect l="l" t="t" r="r" b="b"/>
            <a:pathLst>
              <a:path w="3804284" h="5143500">
                <a:moveTo>
                  <a:pt x="3803931" y="5143499"/>
                </a:moveTo>
                <a:lnTo>
                  <a:pt x="2090333" y="5143499"/>
                </a:lnTo>
                <a:lnTo>
                  <a:pt x="250070" y="3303218"/>
                </a:lnTo>
                <a:lnTo>
                  <a:pt x="216727" y="3267961"/>
                </a:lnTo>
                <a:lnTo>
                  <a:pt x="185766" y="3231327"/>
                </a:lnTo>
                <a:lnTo>
                  <a:pt x="157187" y="3193417"/>
                </a:lnTo>
                <a:lnTo>
                  <a:pt x="130989" y="3154333"/>
                </a:lnTo>
                <a:lnTo>
                  <a:pt x="107173" y="3114178"/>
                </a:lnTo>
                <a:lnTo>
                  <a:pt x="85738" y="3073053"/>
                </a:lnTo>
                <a:lnTo>
                  <a:pt x="66685" y="3031061"/>
                </a:lnTo>
                <a:lnTo>
                  <a:pt x="50014" y="2988303"/>
                </a:lnTo>
                <a:lnTo>
                  <a:pt x="35724" y="2944881"/>
                </a:lnTo>
                <a:lnTo>
                  <a:pt x="23816" y="2900899"/>
                </a:lnTo>
                <a:lnTo>
                  <a:pt x="14289" y="2856457"/>
                </a:lnTo>
                <a:lnTo>
                  <a:pt x="7144" y="2811658"/>
                </a:lnTo>
                <a:lnTo>
                  <a:pt x="2381" y="2766603"/>
                </a:lnTo>
                <a:lnTo>
                  <a:pt x="0" y="2721396"/>
                </a:lnTo>
                <a:lnTo>
                  <a:pt x="0" y="2676137"/>
                </a:lnTo>
                <a:lnTo>
                  <a:pt x="2381" y="2630930"/>
                </a:lnTo>
                <a:lnTo>
                  <a:pt x="7144" y="2585875"/>
                </a:lnTo>
                <a:lnTo>
                  <a:pt x="14289" y="2541076"/>
                </a:lnTo>
                <a:lnTo>
                  <a:pt x="23816" y="2496634"/>
                </a:lnTo>
                <a:lnTo>
                  <a:pt x="35724" y="2452651"/>
                </a:lnTo>
                <a:lnTo>
                  <a:pt x="50014" y="2409229"/>
                </a:lnTo>
                <a:lnTo>
                  <a:pt x="66685" y="2366470"/>
                </a:lnTo>
                <a:lnTo>
                  <a:pt x="85738" y="2324477"/>
                </a:lnTo>
                <a:lnTo>
                  <a:pt x="107173" y="2283352"/>
                </a:lnTo>
                <a:lnTo>
                  <a:pt x="130989" y="2243196"/>
                </a:lnTo>
                <a:lnTo>
                  <a:pt x="157187" y="2204111"/>
                </a:lnTo>
                <a:lnTo>
                  <a:pt x="185766" y="2166200"/>
                </a:lnTo>
                <a:lnTo>
                  <a:pt x="216727" y="2129565"/>
                </a:lnTo>
                <a:lnTo>
                  <a:pt x="250070" y="2094308"/>
                </a:lnTo>
                <a:lnTo>
                  <a:pt x="2344378" y="0"/>
                </a:lnTo>
                <a:lnTo>
                  <a:pt x="3803931" y="0"/>
                </a:lnTo>
                <a:lnTo>
                  <a:pt x="3803931" y="5143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17838" y="2551156"/>
            <a:ext cx="3363805" cy="5355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67" b="1" i="0">
                <a:solidFill>
                  <a:srgbClr val="CF101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06955" y="4354238"/>
            <a:ext cx="4467860" cy="258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67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69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DDBB1-13E8-1DA6-E623-43FA0BA6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F232F-0DC4-3151-007E-93B41FB97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DC6B6-C81B-A533-8F9E-FDB6BA10B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22CD5-F108-420B-8257-F807358BA041}" type="datetimeFigureOut">
              <a:rPr lang="en-ID" smtClean="0"/>
              <a:t>04/05/2026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479CB-A379-6C70-BE30-3A62925E1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6E720-2E19-E52D-EA23-0FDDE4344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3BEBF-EB6C-456E-BE4A-A5A98FA674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67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291600" y="1643601"/>
            <a:ext cx="4485073" cy="21717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indent="1294521" algn="just">
              <a:lnSpc>
                <a:spcPct val="100000"/>
              </a:lnSpc>
              <a:spcBef>
                <a:spcPts val="133"/>
              </a:spcBef>
            </a:pPr>
            <a:r>
              <a:rPr sz="4667" spc="107" dirty="0">
                <a:solidFill>
                  <a:srgbClr val="000000"/>
                </a:solidFill>
              </a:rPr>
              <a:t>Virtual </a:t>
            </a:r>
            <a:r>
              <a:rPr sz="4667" spc="207" dirty="0">
                <a:solidFill>
                  <a:srgbClr val="000000"/>
                </a:solidFill>
              </a:rPr>
              <a:t>Internship </a:t>
            </a:r>
            <a:r>
              <a:rPr sz="4667" spc="160" dirty="0">
                <a:solidFill>
                  <a:srgbClr val="019EAA"/>
                </a:solidFill>
              </a:rPr>
              <a:t>Experience</a:t>
            </a:r>
            <a:endParaRPr sz="4667" dirty="0"/>
          </a:p>
        </p:txBody>
      </p:sp>
      <p:grpSp>
        <p:nvGrpSpPr>
          <p:cNvPr id="3" name="object 3"/>
          <p:cNvGrpSpPr/>
          <p:nvPr/>
        </p:nvGrpSpPr>
        <p:grpSpPr>
          <a:xfrm>
            <a:off x="471139" y="253199"/>
            <a:ext cx="11107011" cy="6140279"/>
            <a:chOff x="353354" y="189899"/>
            <a:chExt cx="8330258" cy="4605209"/>
          </a:xfrm>
        </p:grpSpPr>
        <p:sp>
          <p:nvSpPr>
            <p:cNvPr id="4" name="object 4"/>
            <p:cNvSpPr/>
            <p:nvPr/>
          </p:nvSpPr>
          <p:spPr>
            <a:xfrm>
              <a:off x="6429362" y="2997043"/>
              <a:ext cx="2254250" cy="1327150"/>
            </a:xfrm>
            <a:custGeom>
              <a:avLst/>
              <a:gdLst/>
              <a:ahLst/>
              <a:cxnLst/>
              <a:rect l="l" t="t" r="r" b="b"/>
              <a:pathLst>
                <a:path w="2254250" h="1327150">
                  <a:moveTo>
                    <a:pt x="2254195" y="1326597"/>
                  </a:moveTo>
                  <a:lnTo>
                    <a:pt x="0" y="1326597"/>
                  </a:lnTo>
                  <a:lnTo>
                    <a:pt x="0" y="0"/>
                  </a:lnTo>
                  <a:lnTo>
                    <a:pt x="2254195" y="0"/>
                  </a:lnTo>
                  <a:lnTo>
                    <a:pt x="2254195" y="1326597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8561" y="2938869"/>
              <a:ext cx="2015795" cy="14626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354" y="189899"/>
              <a:ext cx="1795071" cy="8315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8974" y="2805019"/>
              <a:ext cx="4182745" cy="1990089"/>
            </a:xfrm>
            <a:custGeom>
              <a:avLst/>
              <a:gdLst/>
              <a:ahLst/>
              <a:cxnLst/>
              <a:rect l="l" t="t" r="r" b="b"/>
              <a:pathLst>
                <a:path w="4182745" h="1990089">
                  <a:moveTo>
                    <a:pt x="3850942" y="1989895"/>
                  </a:moveTo>
                  <a:lnTo>
                    <a:pt x="331656" y="1989895"/>
                  </a:lnTo>
                  <a:lnTo>
                    <a:pt x="282646" y="1986299"/>
                  </a:lnTo>
                  <a:lnTo>
                    <a:pt x="235869" y="1975853"/>
                  </a:lnTo>
                  <a:lnTo>
                    <a:pt x="191838" y="1959069"/>
                  </a:lnTo>
                  <a:lnTo>
                    <a:pt x="151065" y="1936461"/>
                  </a:lnTo>
                  <a:lnTo>
                    <a:pt x="114065" y="1908542"/>
                  </a:lnTo>
                  <a:lnTo>
                    <a:pt x="81349" y="1875826"/>
                  </a:lnTo>
                  <a:lnTo>
                    <a:pt x="53431" y="1838826"/>
                  </a:lnTo>
                  <a:lnTo>
                    <a:pt x="30824" y="1798055"/>
                  </a:lnTo>
                  <a:lnTo>
                    <a:pt x="14041" y="1754025"/>
                  </a:lnTo>
                  <a:lnTo>
                    <a:pt x="3595" y="1707251"/>
                  </a:lnTo>
                  <a:lnTo>
                    <a:pt x="0" y="1658246"/>
                  </a:lnTo>
                  <a:lnTo>
                    <a:pt x="0" y="331649"/>
                  </a:lnTo>
                  <a:lnTo>
                    <a:pt x="3595" y="282644"/>
                  </a:lnTo>
                  <a:lnTo>
                    <a:pt x="14041" y="235870"/>
                  </a:lnTo>
                  <a:lnTo>
                    <a:pt x="30824" y="191840"/>
                  </a:lnTo>
                  <a:lnTo>
                    <a:pt x="53431" y="151069"/>
                  </a:lnTo>
                  <a:lnTo>
                    <a:pt x="81349" y="114069"/>
                  </a:lnTo>
                  <a:lnTo>
                    <a:pt x="114065" y="81353"/>
                  </a:lnTo>
                  <a:lnTo>
                    <a:pt x="151065" y="53434"/>
                  </a:lnTo>
                  <a:lnTo>
                    <a:pt x="191838" y="30826"/>
                  </a:lnTo>
                  <a:lnTo>
                    <a:pt x="235869" y="14042"/>
                  </a:lnTo>
                  <a:lnTo>
                    <a:pt x="282646" y="3596"/>
                  </a:lnTo>
                  <a:lnTo>
                    <a:pt x="331656" y="0"/>
                  </a:lnTo>
                  <a:lnTo>
                    <a:pt x="3850942" y="0"/>
                  </a:lnTo>
                  <a:lnTo>
                    <a:pt x="3903131" y="4132"/>
                  </a:lnTo>
                  <a:lnTo>
                    <a:pt x="3953566" y="16283"/>
                  </a:lnTo>
                  <a:lnTo>
                    <a:pt x="4001357" y="36082"/>
                  </a:lnTo>
                  <a:lnTo>
                    <a:pt x="4045612" y="63161"/>
                  </a:lnTo>
                  <a:lnTo>
                    <a:pt x="4085441" y="97149"/>
                  </a:lnTo>
                  <a:lnTo>
                    <a:pt x="4119430" y="136979"/>
                  </a:lnTo>
                  <a:lnTo>
                    <a:pt x="4146508" y="181234"/>
                  </a:lnTo>
                  <a:lnTo>
                    <a:pt x="4166308" y="229024"/>
                  </a:lnTo>
                  <a:lnTo>
                    <a:pt x="4178459" y="279459"/>
                  </a:lnTo>
                  <a:lnTo>
                    <a:pt x="4182591" y="331649"/>
                  </a:lnTo>
                  <a:lnTo>
                    <a:pt x="4182591" y="1658246"/>
                  </a:lnTo>
                  <a:lnTo>
                    <a:pt x="4178995" y="1707251"/>
                  </a:lnTo>
                  <a:lnTo>
                    <a:pt x="4168548" y="1754025"/>
                  </a:lnTo>
                  <a:lnTo>
                    <a:pt x="4151764" y="1798055"/>
                  </a:lnTo>
                  <a:lnTo>
                    <a:pt x="4129156" y="1838826"/>
                  </a:lnTo>
                  <a:lnTo>
                    <a:pt x="4101238" y="1875826"/>
                  </a:lnTo>
                  <a:lnTo>
                    <a:pt x="4068522" y="1908542"/>
                  </a:lnTo>
                  <a:lnTo>
                    <a:pt x="4031522" y="1936461"/>
                  </a:lnTo>
                  <a:lnTo>
                    <a:pt x="3990750" y="1959069"/>
                  </a:lnTo>
                  <a:lnTo>
                    <a:pt x="3946721" y="1975853"/>
                  </a:lnTo>
                  <a:lnTo>
                    <a:pt x="3899947" y="1986299"/>
                  </a:lnTo>
                  <a:lnTo>
                    <a:pt x="3850942" y="1989895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488974" y="2805019"/>
              <a:ext cx="4182745" cy="1990089"/>
            </a:xfrm>
            <a:custGeom>
              <a:avLst/>
              <a:gdLst/>
              <a:ahLst/>
              <a:cxnLst/>
              <a:rect l="l" t="t" r="r" b="b"/>
              <a:pathLst>
                <a:path w="4182745" h="1990089">
                  <a:moveTo>
                    <a:pt x="0" y="331649"/>
                  </a:moveTo>
                  <a:lnTo>
                    <a:pt x="3595" y="282644"/>
                  </a:lnTo>
                  <a:lnTo>
                    <a:pt x="14041" y="235870"/>
                  </a:lnTo>
                  <a:lnTo>
                    <a:pt x="30824" y="191840"/>
                  </a:lnTo>
                  <a:lnTo>
                    <a:pt x="53431" y="151069"/>
                  </a:lnTo>
                  <a:lnTo>
                    <a:pt x="81349" y="114069"/>
                  </a:lnTo>
                  <a:lnTo>
                    <a:pt x="114065" y="81353"/>
                  </a:lnTo>
                  <a:lnTo>
                    <a:pt x="151065" y="53434"/>
                  </a:lnTo>
                  <a:lnTo>
                    <a:pt x="191838" y="30826"/>
                  </a:lnTo>
                  <a:lnTo>
                    <a:pt x="235869" y="14042"/>
                  </a:lnTo>
                  <a:lnTo>
                    <a:pt x="282646" y="3596"/>
                  </a:lnTo>
                  <a:lnTo>
                    <a:pt x="331656" y="0"/>
                  </a:lnTo>
                  <a:lnTo>
                    <a:pt x="3850942" y="0"/>
                  </a:lnTo>
                  <a:lnTo>
                    <a:pt x="3903131" y="4132"/>
                  </a:lnTo>
                  <a:lnTo>
                    <a:pt x="3953566" y="16283"/>
                  </a:lnTo>
                  <a:lnTo>
                    <a:pt x="4001357" y="36082"/>
                  </a:lnTo>
                  <a:lnTo>
                    <a:pt x="4045612" y="63161"/>
                  </a:lnTo>
                  <a:lnTo>
                    <a:pt x="4085441" y="97149"/>
                  </a:lnTo>
                  <a:lnTo>
                    <a:pt x="4119430" y="136979"/>
                  </a:lnTo>
                  <a:lnTo>
                    <a:pt x="4146508" y="181234"/>
                  </a:lnTo>
                  <a:lnTo>
                    <a:pt x="4166308" y="229024"/>
                  </a:lnTo>
                  <a:lnTo>
                    <a:pt x="4178459" y="279459"/>
                  </a:lnTo>
                  <a:lnTo>
                    <a:pt x="4182591" y="331649"/>
                  </a:lnTo>
                  <a:lnTo>
                    <a:pt x="4182591" y="1658246"/>
                  </a:lnTo>
                  <a:lnTo>
                    <a:pt x="4178995" y="1707251"/>
                  </a:lnTo>
                  <a:lnTo>
                    <a:pt x="4168548" y="1754025"/>
                  </a:lnTo>
                  <a:lnTo>
                    <a:pt x="4151764" y="1798055"/>
                  </a:lnTo>
                  <a:lnTo>
                    <a:pt x="4129156" y="1838826"/>
                  </a:lnTo>
                  <a:lnTo>
                    <a:pt x="4101238" y="1875826"/>
                  </a:lnTo>
                  <a:lnTo>
                    <a:pt x="4068522" y="1908542"/>
                  </a:lnTo>
                  <a:lnTo>
                    <a:pt x="4031522" y="1936461"/>
                  </a:lnTo>
                  <a:lnTo>
                    <a:pt x="3990750" y="1959069"/>
                  </a:lnTo>
                  <a:lnTo>
                    <a:pt x="3946721" y="1975853"/>
                  </a:lnTo>
                  <a:lnTo>
                    <a:pt x="3899947" y="1986299"/>
                  </a:lnTo>
                  <a:lnTo>
                    <a:pt x="3850942" y="1989895"/>
                  </a:lnTo>
                  <a:lnTo>
                    <a:pt x="331656" y="1989895"/>
                  </a:lnTo>
                  <a:lnTo>
                    <a:pt x="282646" y="1986299"/>
                  </a:lnTo>
                  <a:lnTo>
                    <a:pt x="235869" y="1975853"/>
                  </a:lnTo>
                  <a:lnTo>
                    <a:pt x="191838" y="1959069"/>
                  </a:lnTo>
                  <a:lnTo>
                    <a:pt x="151065" y="1936461"/>
                  </a:lnTo>
                  <a:lnTo>
                    <a:pt x="114065" y="1908542"/>
                  </a:lnTo>
                  <a:lnTo>
                    <a:pt x="81349" y="1875826"/>
                  </a:lnTo>
                  <a:lnTo>
                    <a:pt x="53431" y="1838826"/>
                  </a:lnTo>
                  <a:lnTo>
                    <a:pt x="30824" y="1798055"/>
                  </a:lnTo>
                  <a:lnTo>
                    <a:pt x="14041" y="1754025"/>
                  </a:lnTo>
                  <a:lnTo>
                    <a:pt x="3595" y="1707251"/>
                  </a:lnTo>
                  <a:lnTo>
                    <a:pt x="0" y="1658246"/>
                  </a:lnTo>
                  <a:lnTo>
                    <a:pt x="0" y="3316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ubTitle" idx="4"/>
          </p:nvPr>
        </p:nvSpPr>
        <p:spPr>
          <a:xfrm>
            <a:off x="461889" y="4720931"/>
            <a:ext cx="5957147" cy="691642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0" algn="ctr">
              <a:lnSpc>
                <a:spcPct val="100400"/>
              </a:lnSpc>
              <a:spcBef>
                <a:spcPts val="113"/>
              </a:spcBef>
              <a:buNone/>
            </a:pPr>
            <a:r>
              <a:rPr lang="en-US" sz="4400" dirty="0">
                <a:latin typeface="Gill Sans MT"/>
                <a:cs typeface="Gill Sans MT"/>
              </a:rPr>
              <a:t>Raihan Azhar Rafi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4044" y="466932"/>
            <a:ext cx="943197" cy="707397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17FF2B2B-9B4B-9B77-7A5B-BB13D6EF99F7}"/>
              </a:ext>
            </a:extLst>
          </p:cNvPr>
          <p:cNvSpPr txBox="1"/>
          <p:nvPr/>
        </p:nvSpPr>
        <p:spPr>
          <a:xfrm>
            <a:off x="534759" y="1218718"/>
            <a:ext cx="7331358" cy="94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</a:pP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Hasil Analisis Missing Values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A579E379-83AE-E15D-27F2-DDC6BEA57990}"/>
              </a:ext>
            </a:extLst>
          </p:cNvPr>
          <p:cNvSpPr txBox="1"/>
          <p:nvPr/>
        </p:nvSpPr>
        <p:spPr>
          <a:xfrm>
            <a:off x="534759" y="2241021"/>
            <a:ext cx="5683161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Berdasarkan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hasil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analisis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missing values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dataset application_train.csv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terdapat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kurang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lebih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10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kolom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persentase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missing values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lumayan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besar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berkisar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antara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60%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bahkan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sampai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70%. Hal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tersebut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menunjukkan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bahwa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tidak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semua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informasi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terkait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property customer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berhasil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dikumpulkan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datanya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oleh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pihak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Home Credit Indonesia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proses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pengajuan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kredit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841B3B0A-A325-C449-205E-63AC36E5FC17}"/>
              </a:ext>
            </a:extLst>
          </p:cNvPr>
          <p:cNvSpPr txBox="1"/>
          <p:nvPr/>
        </p:nvSpPr>
        <p:spPr>
          <a:xfrm>
            <a:off x="534759" y="3718348"/>
            <a:ext cx="7331358" cy="94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</a:pP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Business Recommendation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0FB26F9E-3F21-CF32-BB91-81F3F4B98D2E}"/>
              </a:ext>
            </a:extLst>
          </p:cNvPr>
          <p:cNvSpPr txBox="1"/>
          <p:nvPr/>
        </p:nvSpPr>
        <p:spPr>
          <a:xfrm>
            <a:off x="534759" y="4705783"/>
            <a:ext cx="5561241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Menurut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pihak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Home Credit Indonesia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dapat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lebih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meningkatkan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proses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validasi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mereka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mengajukan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kredit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sap"/>
                <a:sym typeface="Asap"/>
              </a:rPr>
              <a:t>Bisa </a:t>
            </a:r>
            <a:r>
              <a:rPr lang="en-US" sz="1600" dirty="0" err="1">
                <a:latin typeface="Asap"/>
                <a:sym typeface="Asap"/>
              </a:rPr>
              <a:t>lebih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perketat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lagi</a:t>
            </a:r>
            <a:r>
              <a:rPr lang="en-US" sz="1600" dirty="0">
                <a:latin typeface="Asap"/>
                <a:sym typeface="Asap"/>
              </a:rPr>
              <a:t> proses </a:t>
            </a:r>
            <a:r>
              <a:rPr lang="en-US" sz="1600" dirty="0" err="1">
                <a:latin typeface="Asap"/>
                <a:sym typeface="Asap"/>
              </a:rPr>
              <a:t>syarat</a:t>
            </a:r>
            <a:r>
              <a:rPr lang="en-US" sz="1600" dirty="0">
                <a:latin typeface="Asap"/>
                <a:sym typeface="Asap"/>
              </a:rPr>
              <a:t> dan </a:t>
            </a:r>
            <a:r>
              <a:rPr lang="en-US" sz="1600" dirty="0" err="1">
                <a:latin typeface="Asap"/>
                <a:sym typeface="Asap"/>
              </a:rPr>
              <a:t>ketentuan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dalam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hal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informasi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properti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pengguna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saat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menggunakan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layanan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pengajuan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kredit</a:t>
            </a:r>
            <a:r>
              <a:rPr lang="en-US" sz="1600" dirty="0">
                <a:latin typeface="Asap"/>
                <a:sym typeface="Asap"/>
              </a:rPr>
              <a:t>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0DA676-024F-9339-483E-5DE494ED8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691" y="2162694"/>
            <a:ext cx="478155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67DFB-2701-C17B-20B0-70A1FE53B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CB75F68-7BD8-8E1B-2AC3-6F5A206B24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4044" y="466932"/>
            <a:ext cx="943197" cy="707397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C7EBD59B-3D8C-DD6A-4760-150F87A918FD}"/>
              </a:ext>
            </a:extLst>
          </p:cNvPr>
          <p:cNvSpPr txBox="1"/>
          <p:nvPr/>
        </p:nvSpPr>
        <p:spPr>
          <a:xfrm>
            <a:off x="534759" y="1156079"/>
            <a:ext cx="5683161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Hasil </a:t>
            </a:r>
            <a:r>
              <a:rPr lang="en-US" sz="3200" b="1" dirty="0" err="1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Analisis</a:t>
            </a: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 Target Gagal Bayar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B19D5B29-F4B8-11AB-4466-4B7F0BC600EB}"/>
              </a:ext>
            </a:extLst>
          </p:cNvPr>
          <p:cNvSpPr txBox="1"/>
          <p:nvPr/>
        </p:nvSpPr>
        <p:spPr>
          <a:xfrm>
            <a:off x="534759" y="2241021"/>
            <a:ext cx="5683161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Berdasarkan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hasil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analisis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target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gagal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bayar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pada project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ini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terdapat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insight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yaitu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sekitar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91.93% customer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berhasil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melunasi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kredit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sedangkan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8.07%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diantaranya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gagal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bayar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 Hal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tersebut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membuktikan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dataset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bersifat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imbalanced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karena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perbadingan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antara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dua variable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hasil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terlampau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signifikan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8A3EC376-B672-FA2A-D986-24A8ACE3C2FC}"/>
              </a:ext>
            </a:extLst>
          </p:cNvPr>
          <p:cNvSpPr txBox="1"/>
          <p:nvPr/>
        </p:nvSpPr>
        <p:spPr>
          <a:xfrm>
            <a:off x="534759" y="3258028"/>
            <a:ext cx="5439322" cy="920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</a:pP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Business Recommendation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2E57FD96-7FDB-C742-71C9-71DB207103E1}"/>
              </a:ext>
            </a:extLst>
          </p:cNvPr>
          <p:cNvSpPr txBox="1"/>
          <p:nvPr/>
        </p:nvSpPr>
        <p:spPr>
          <a:xfrm>
            <a:off x="534759" y="4333897"/>
            <a:ext cx="5561241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Saat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mengerjakan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project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ini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sudah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melakukan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proses modeling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fokus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penggunaan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teknik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handling imbalance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SMOTE dan juga evaluation metric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ROC-AUC.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sap"/>
                <a:sym typeface="Asap"/>
              </a:rPr>
              <a:t>Saran </a:t>
            </a:r>
            <a:r>
              <a:rPr lang="en-US" sz="1600" dirty="0" err="1">
                <a:latin typeface="Asap"/>
                <a:sym typeface="Asap"/>
              </a:rPr>
              <a:t>dari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saya</a:t>
            </a:r>
            <a:r>
              <a:rPr lang="en-US" sz="1600" dirty="0">
                <a:latin typeface="Asap"/>
                <a:sym typeface="Asap"/>
              </a:rPr>
              <a:t>, </a:t>
            </a:r>
            <a:r>
              <a:rPr lang="en-US" sz="1600" dirty="0" err="1">
                <a:latin typeface="Asap"/>
                <a:sym typeface="Asap"/>
              </a:rPr>
              <a:t>perusahaan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dapat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berfokus</a:t>
            </a:r>
            <a:r>
              <a:rPr lang="en-US" sz="1600" dirty="0">
                <a:latin typeface="Asap"/>
                <a:sym typeface="Asap"/>
              </a:rPr>
              <a:t> pada </a:t>
            </a:r>
            <a:r>
              <a:rPr lang="en-US" sz="1600" dirty="0" err="1">
                <a:latin typeface="Asap"/>
                <a:sym typeface="Asap"/>
              </a:rPr>
              <a:t>pembuatan</a:t>
            </a:r>
            <a:r>
              <a:rPr lang="en-US" sz="1600" dirty="0">
                <a:latin typeface="Asap"/>
                <a:sym typeface="Asap"/>
              </a:rPr>
              <a:t> early warning system agar </a:t>
            </a:r>
            <a:r>
              <a:rPr lang="en-US" sz="1600" dirty="0" err="1">
                <a:latin typeface="Asap"/>
                <a:sym typeface="Asap"/>
              </a:rPr>
              <a:t>lebih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mudah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dalam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mendeteksi</a:t>
            </a:r>
            <a:r>
              <a:rPr lang="en-US" sz="1600" dirty="0">
                <a:latin typeface="Asap"/>
                <a:sym typeface="Asap"/>
              </a:rPr>
              <a:t> customer </a:t>
            </a:r>
            <a:r>
              <a:rPr lang="en-US" sz="1600" dirty="0" err="1">
                <a:latin typeface="Asap"/>
                <a:sym typeface="Asap"/>
              </a:rPr>
              <a:t>dengan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resiko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tinggi</a:t>
            </a:r>
            <a:r>
              <a:rPr lang="en-US" sz="1600" dirty="0">
                <a:latin typeface="Asap"/>
                <a:sym typeface="Asap"/>
              </a:rPr>
              <a:t>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C4BF06-FAA6-EDD0-9989-AB0FD9A7C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1858513"/>
            <a:ext cx="5929217" cy="371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5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FDBFB-5401-5C47-4438-DFDC480DB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71DF3974-8AB1-A995-7B10-0B8B9EADA0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4044" y="466932"/>
            <a:ext cx="943197" cy="707397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BE38FD94-D3BD-A790-B0EB-E10C66F724EC}"/>
              </a:ext>
            </a:extLst>
          </p:cNvPr>
          <p:cNvSpPr txBox="1"/>
          <p:nvPr/>
        </p:nvSpPr>
        <p:spPr>
          <a:xfrm>
            <a:off x="534759" y="1156079"/>
            <a:ext cx="5683161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Hasil Analisis </a:t>
            </a:r>
            <a:r>
              <a:rPr lang="en-US" sz="3200" b="1" dirty="0" err="1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Distribusi</a:t>
            </a: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 </a:t>
            </a:r>
            <a:r>
              <a:rPr lang="en-US" sz="3200" b="1" dirty="0" err="1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Usia</a:t>
            </a: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 Customer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DA39928B-649A-C944-D3C1-5C03F03F57BC}"/>
              </a:ext>
            </a:extLst>
          </p:cNvPr>
          <p:cNvSpPr txBox="1"/>
          <p:nvPr/>
        </p:nvSpPr>
        <p:spPr>
          <a:xfrm>
            <a:off x="534759" y="2241021"/>
            <a:ext cx="5683161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Berdasarkan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hasil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analisis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distribusi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usia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 pada project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ini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terdapat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insight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yaitu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mayoritas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berada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pada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rentang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usia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sekitar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30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hingga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50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tahun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 Ini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menunjukkan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bahwa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usia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memiliki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hubungan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perilaku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kredit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dibuktikan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bahwa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beberapa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 yang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gagal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bayar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berada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di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usia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yang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produktif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4DE73919-349F-0280-C8CA-41513B87EB3C}"/>
              </a:ext>
            </a:extLst>
          </p:cNvPr>
          <p:cNvSpPr txBox="1"/>
          <p:nvPr/>
        </p:nvSpPr>
        <p:spPr>
          <a:xfrm>
            <a:off x="534759" y="3258028"/>
            <a:ext cx="5439322" cy="920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</a:pP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Business Recommendation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FCAB44BE-0D46-2DD4-6B5D-88E474351C7D}"/>
              </a:ext>
            </a:extLst>
          </p:cNvPr>
          <p:cNvSpPr txBox="1"/>
          <p:nvPr/>
        </p:nvSpPr>
        <p:spPr>
          <a:xfrm>
            <a:off x="534759" y="4333897"/>
            <a:ext cx="5561241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Saran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dari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perusahaan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dapat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melakukan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segmentasi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risiko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berdasarkan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kelompok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usia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 agar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bisa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membantu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dalam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hal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deteksi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dini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 yang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berpotensi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gagal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bayar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  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sap"/>
                <a:sym typeface="Asap"/>
              </a:rPr>
              <a:t>Bisa </a:t>
            </a:r>
            <a:r>
              <a:rPr lang="en-US" sz="1600" dirty="0" err="1">
                <a:latin typeface="Asap"/>
                <a:sym typeface="Asap"/>
              </a:rPr>
              <a:t>diberikan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skema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atau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sistem</a:t>
            </a:r>
            <a:r>
              <a:rPr lang="en-US" sz="1600" dirty="0">
                <a:latin typeface="Asap"/>
                <a:sym typeface="Asap"/>
              </a:rPr>
              <a:t> limit </a:t>
            </a:r>
            <a:r>
              <a:rPr lang="en-US" sz="1600" dirty="0" err="1">
                <a:latin typeface="Asap"/>
                <a:sym typeface="Asap"/>
              </a:rPr>
              <a:t>kredit</a:t>
            </a:r>
            <a:r>
              <a:rPr lang="en-US" sz="1600" dirty="0">
                <a:latin typeface="Asap"/>
                <a:sym typeface="Asap"/>
              </a:rPr>
              <a:t> pada </a:t>
            </a:r>
            <a:r>
              <a:rPr lang="en-US" sz="1600" dirty="0" err="1">
                <a:latin typeface="Asap"/>
                <a:sym typeface="Asap"/>
              </a:rPr>
              <a:t>kelompok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usia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tertentu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untuk</a:t>
            </a:r>
            <a:r>
              <a:rPr lang="en-US" sz="1600" dirty="0">
                <a:latin typeface="Asap"/>
                <a:sym typeface="Asap"/>
              </a:rPr>
              <a:t> proses </a:t>
            </a:r>
            <a:r>
              <a:rPr lang="en-US" sz="1600" dirty="0" err="1">
                <a:latin typeface="Asap"/>
                <a:sym typeface="Asap"/>
              </a:rPr>
              <a:t>kontrol</a:t>
            </a:r>
            <a:r>
              <a:rPr lang="en-US" sz="1600" dirty="0">
                <a:latin typeface="Asap"/>
                <a:sym typeface="Asap"/>
              </a:rPr>
              <a:t> proses </a:t>
            </a:r>
            <a:r>
              <a:rPr lang="en-US" sz="1600" dirty="0" err="1">
                <a:latin typeface="Asap"/>
                <a:sym typeface="Asap"/>
              </a:rPr>
              <a:t>pembayaran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kredit</a:t>
            </a:r>
            <a:r>
              <a:rPr lang="en-US" sz="1600" dirty="0">
                <a:latin typeface="Asap"/>
                <a:sym typeface="Asap"/>
              </a:rPr>
              <a:t>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821D3-0E62-7AA2-F625-232E23095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1898693"/>
            <a:ext cx="5784015" cy="363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04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4E4C2-C62F-D025-7115-85A9900C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5E370C98-9E49-5CAD-A4B9-EACE8813F9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4044" y="466932"/>
            <a:ext cx="943197" cy="707397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119F6F99-12D4-28F6-8183-E443E366A2EC}"/>
              </a:ext>
            </a:extLst>
          </p:cNvPr>
          <p:cNvSpPr txBox="1"/>
          <p:nvPr/>
        </p:nvSpPr>
        <p:spPr>
          <a:xfrm>
            <a:off x="534759" y="1156079"/>
            <a:ext cx="5683161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Hasil Analisis Rasio Kredit </a:t>
            </a:r>
            <a:r>
              <a:rPr lang="en-US" sz="3200" b="1" dirty="0" err="1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terhadap</a:t>
            </a: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 </a:t>
            </a:r>
            <a:r>
              <a:rPr lang="en-US" sz="3200" b="1" dirty="0" err="1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Pendapatan</a:t>
            </a:r>
            <a:endParaRPr lang="en-US" sz="3200" b="1" dirty="0">
              <a:latin typeface="Noto Serif Bengali SemiCondensed Heavy"/>
              <a:ea typeface="Noto Serif Bengali SemiCondensed Heavy"/>
              <a:cs typeface="Noto Serif Bengali SemiCondensed Heavy"/>
              <a:sym typeface="Noto Serif Bengali SemiCondensed Heavy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62E3164A-4179-7B9A-B193-9E3E12D01DEF}"/>
              </a:ext>
            </a:extLst>
          </p:cNvPr>
          <p:cNvSpPr txBox="1"/>
          <p:nvPr/>
        </p:nvSpPr>
        <p:spPr>
          <a:xfrm>
            <a:off x="534759" y="2241021"/>
            <a:ext cx="5683161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Berdasarkan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hasil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analisis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distribusi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rasio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kredit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pendapatan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pada project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ini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terdapat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insight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yaitu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risiko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gagal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bayar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lebih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besar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terdapat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pada customer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rasio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kredit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yang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tinggi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. Hal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tersebut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menunjukkan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bahwa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semakin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besar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beban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kredit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yang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tidak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sebanding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dengan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pendapatan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maka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akan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memberikan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tekanan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yang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lebih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tinggi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32FC639B-AF39-F539-21E1-243222C387A2}"/>
              </a:ext>
            </a:extLst>
          </p:cNvPr>
          <p:cNvSpPr txBox="1"/>
          <p:nvPr/>
        </p:nvSpPr>
        <p:spPr>
          <a:xfrm>
            <a:off x="534759" y="3258028"/>
            <a:ext cx="5439322" cy="920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</a:pPr>
            <a:r>
              <a:rPr lang="en-US" sz="3200" b="1" dirty="0">
                <a:latin typeface="Noto Serif Bengali SemiCondensed Heavy"/>
                <a:ea typeface="Noto Serif Bengali SemiCondensed Heavy"/>
                <a:cs typeface="Noto Serif Bengali SemiCondensed Heavy"/>
                <a:sym typeface="Noto Serif Bengali SemiCondensed Heavy"/>
              </a:rPr>
              <a:t>Business Recommendation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B1C8B8BA-64AA-7F57-5184-051754D972B5}"/>
              </a:ext>
            </a:extLst>
          </p:cNvPr>
          <p:cNvSpPr txBox="1"/>
          <p:nvPr/>
        </p:nvSpPr>
        <p:spPr>
          <a:xfrm>
            <a:off x="534759" y="4333897"/>
            <a:ext cx="5561241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Saran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dari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saya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sebaiknya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perusahaan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sebelum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menyetujui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pinjaman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customer,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sistem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nya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diubah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dahulu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terhadap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batas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maksimal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untuk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pendapatan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</a:t>
            </a:r>
            <a:r>
              <a:rPr lang="en-US" sz="1600" dirty="0" err="1">
                <a:latin typeface="Asap"/>
                <a:ea typeface="Asap"/>
                <a:cs typeface="Asap"/>
                <a:sym typeface="Asap"/>
              </a:rPr>
              <a:t>setiap</a:t>
            </a:r>
            <a:r>
              <a:rPr lang="en-US" sz="1600" dirty="0">
                <a:latin typeface="Asap"/>
                <a:ea typeface="Asap"/>
                <a:cs typeface="Asap"/>
                <a:sym typeface="Asap"/>
              </a:rPr>
              <a:t> customer.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sap"/>
                <a:sym typeface="Asap"/>
              </a:rPr>
              <a:t>Bisa </a:t>
            </a:r>
            <a:r>
              <a:rPr lang="en-US" sz="1600" dirty="0" err="1">
                <a:latin typeface="Asap"/>
                <a:sym typeface="Asap"/>
              </a:rPr>
              <a:t>diberikan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rekomendasi</a:t>
            </a:r>
            <a:r>
              <a:rPr lang="en-US" sz="1600" dirty="0">
                <a:latin typeface="Asap"/>
                <a:sym typeface="Asap"/>
              </a:rPr>
              <a:t> tenor yang </a:t>
            </a:r>
            <a:r>
              <a:rPr lang="en-US" sz="1600" dirty="0" err="1">
                <a:latin typeface="Asap"/>
                <a:sym typeface="Asap"/>
              </a:rPr>
              <a:t>lebih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panjang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untuk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mengurangi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beban</a:t>
            </a:r>
            <a:r>
              <a:rPr lang="en-US" sz="1600" dirty="0">
                <a:latin typeface="Asap"/>
                <a:sym typeface="Asap"/>
              </a:rPr>
              <a:t> </a:t>
            </a:r>
            <a:r>
              <a:rPr lang="en-US" sz="1600" dirty="0" err="1">
                <a:latin typeface="Asap"/>
                <a:sym typeface="Asap"/>
              </a:rPr>
              <a:t>pinjaman</a:t>
            </a:r>
            <a:r>
              <a:rPr lang="en-US" sz="1600" dirty="0">
                <a:latin typeface="Asap"/>
                <a:sym typeface="Asap"/>
              </a:rPr>
              <a:t> customer.</a:t>
            </a:r>
            <a:endParaRPr lang="en-ID" sz="1600" dirty="0"/>
          </a:p>
          <a:p>
            <a:pPr marL="0" lvl="0" indent="0" algn="l"/>
            <a:endParaRPr lang="en-US" sz="1600" dirty="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57AAC-05A6-ED9F-E26B-4E866141E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20" y="1889614"/>
            <a:ext cx="5739226" cy="365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0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0BB7-16AD-6E3C-5BDF-D7024E0A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20E0BC-7A34-A386-AE6B-26D96DD8922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291600" y="1643601"/>
            <a:ext cx="4485073" cy="21717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indent="1294521" algn="just">
              <a:lnSpc>
                <a:spcPct val="100000"/>
              </a:lnSpc>
              <a:spcBef>
                <a:spcPts val="133"/>
              </a:spcBef>
            </a:pPr>
            <a:r>
              <a:rPr sz="4667" spc="107" dirty="0">
                <a:solidFill>
                  <a:srgbClr val="000000"/>
                </a:solidFill>
              </a:rPr>
              <a:t>Virtual </a:t>
            </a:r>
            <a:r>
              <a:rPr sz="4667" spc="207" dirty="0">
                <a:solidFill>
                  <a:srgbClr val="000000"/>
                </a:solidFill>
              </a:rPr>
              <a:t>Internship </a:t>
            </a:r>
            <a:r>
              <a:rPr sz="4667" spc="160" dirty="0">
                <a:solidFill>
                  <a:srgbClr val="019EAA"/>
                </a:solidFill>
              </a:rPr>
              <a:t>Experience</a:t>
            </a:r>
            <a:endParaRPr sz="4667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F195D07-E6F0-9B8A-BDB7-DB04237EF8E9}"/>
              </a:ext>
            </a:extLst>
          </p:cNvPr>
          <p:cNvGrpSpPr/>
          <p:nvPr/>
        </p:nvGrpSpPr>
        <p:grpSpPr>
          <a:xfrm>
            <a:off x="269542" y="817415"/>
            <a:ext cx="11301224" cy="4948176"/>
            <a:chOff x="353354" y="189899"/>
            <a:chExt cx="8475918" cy="3711132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19ED3F2-1C7C-7007-899F-49595F66F9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3477" y="2438334"/>
              <a:ext cx="2015795" cy="1462697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789B198-476E-33F5-737F-15A89B14DB0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354" y="189899"/>
              <a:ext cx="1795071" cy="831523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1F9086D-47CF-984D-BF9C-C5039032B8B5}"/>
                </a:ext>
              </a:extLst>
            </p:cNvPr>
            <p:cNvSpPr/>
            <p:nvPr/>
          </p:nvSpPr>
          <p:spPr>
            <a:xfrm>
              <a:off x="754143" y="988001"/>
              <a:ext cx="4182745" cy="1990089"/>
            </a:xfrm>
            <a:custGeom>
              <a:avLst/>
              <a:gdLst/>
              <a:ahLst/>
              <a:cxnLst/>
              <a:rect l="l" t="t" r="r" b="b"/>
              <a:pathLst>
                <a:path w="4182745" h="1990089">
                  <a:moveTo>
                    <a:pt x="3850942" y="1989895"/>
                  </a:moveTo>
                  <a:lnTo>
                    <a:pt x="331656" y="1989895"/>
                  </a:lnTo>
                  <a:lnTo>
                    <a:pt x="282646" y="1986299"/>
                  </a:lnTo>
                  <a:lnTo>
                    <a:pt x="235869" y="1975853"/>
                  </a:lnTo>
                  <a:lnTo>
                    <a:pt x="191838" y="1959069"/>
                  </a:lnTo>
                  <a:lnTo>
                    <a:pt x="151065" y="1936461"/>
                  </a:lnTo>
                  <a:lnTo>
                    <a:pt x="114065" y="1908542"/>
                  </a:lnTo>
                  <a:lnTo>
                    <a:pt x="81349" y="1875826"/>
                  </a:lnTo>
                  <a:lnTo>
                    <a:pt x="53431" y="1838826"/>
                  </a:lnTo>
                  <a:lnTo>
                    <a:pt x="30824" y="1798055"/>
                  </a:lnTo>
                  <a:lnTo>
                    <a:pt x="14041" y="1754025"/>
                  </a:lnTo>
                  <a:lnTo>
                    <a:pt x="3595" y="1707251"/>
                  </a:lnTo>
                  <a:lnTo>
                    <a:pt x="0" y="1658246"/>
                  </a:lnTo>
                  <a:lnTo>
                    <a:pt x="0" y="331649"/>
                  </a:lnTo>
                  <a:lnTo>
                    <a:pt x="3595" y="282644"/>
                  </a:lnTo>
                  <a:lnTo>
                    <a:pt x="14041" y="235870"/>
                  </a:lnTo>
                  <a:lnTo>
                    <a:pt x="30824" y="191840"/>
                  </a:lnTo>
                  <a:lnTo>
                    <a:pt x="53431" y="151069"/>
                  </a:lnTo>
                  <a:lnTo>
                    <a:pt x="81349" y="114069"/>
                  </a:lnTo>
                  <a:lnTo>
                    <a:pt x="114065" y="81353"/>
                  </a:lnTo>
                  <a:lnTo>
                    <a:pt x="151065" y="53434"/>
                  </a:lnTo>
                  <a:lnTo>
                    <a:pt x="191838" y="30826"/>
                  </a:lnTo>
                  <a:lnTo>
                    <a:pt x="235869" y="14042"/>
                  </a:lnTo>
                  <a:lnTo>
                    <a:pt x="282646" y="3596"/>
                  </a:lnTo>
                  <a:lnTo>
                    <a:pt x="331656" y="0"/>
                  </a:lnTo>
                  <a:lnTo>
                    <a:pt x="3850942" y="0"/>
                  </a:lnTo>
                  <a:lnTo>
                    <a:pt x="3903131" y="4132"/>
                  </a:lnTo>
                  <a:lnTo>
                    <a:pt x="3953566" y="16283"/>
                  </a:lnTo>
                  <a:lnTo>
                    <a:pt x="4001357" y="36082"/>
                  </a:lnTo>
                  <a:lnTo>
                    <a:pt x="4045612" y="63161"/>
                  </a:lnTo>
                  <a:lnTo>
                    <a:pt x="4085441" y="97149"/>
                  </a:lnTo>
                  <a:lnTo>
                    <a:pt x="4119430" y="136979"/>
                  </a:lnTo>
                  <a:lnTo>
                    <a:pt x="4146508" y="181234"/>
                  </a:lnTo>
                  <a:lnTo>
                    <a:pt x="4166308" y="229024"/>
                  </a:lnTo>
                  <a:lnTo>
                    <a:pt x="4178459" y="279459"/>
                  </a:lnTo>
                  <a:lnTo>
                    <a:pt x="4182591" y="331649"/>
                  </a:lnTo>
                  <a:lnTo>
                    <a:pt x="4182591" y="1658246"/>
                  </a:lnTo>
                  <a:lnTo>
                    <a:pt x="4178995" y="1707251"/>
                  </a:lnTo>
                  <a:lnTo>
                    <a:pt x="4168548" y="1754025"/>
                  </a:lnTo>
                  <a:lnTo>
                    <a:pt x="4151764" y="1798055"/>
                  </a:lnTo>
                  <a:lnTo>
                    <a:pt x="4129156" y="1838826"/>
                  </a:lnTo>
                  <a:lnTo>
                    <a:pt x="4101238" y="1875826"/>
                  </a:lnTo>
                  <a:lnTo>
                    <a:pt x="4068522" y="1908542"/>
                  </a:lnTo>
                  <a:lnTo>
                    <a:pt x="4031522" y="1936461"/>
                  </a:lnTo>
                  <a:lnTo>
                    <a:pt x="3990750" y="1959069"/>
                  </a:lnTo>
                  <a:lnTo>
                    <a:pt x="3946721" y="1975853"/>
                  </a:lnTo>
                  <a:lnTo>
                    <a:pt x="3899947" y="1986299"/>
                  </a:lnTo>
                  <a:lnTo>
                    <a:pt x="3850942" y="1989895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sz="2400" dirty="0"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A93811C4-03BE-A771-1291-A37B799D39F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13851" y="2862456"/>
            <a:ext cx="5957147" cy="691642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0" algn="ctr">
              <a:lnSpc>
                <a:spcPct val="100400"/>
              </a:lnSpc>
              <a:spcBef>
                <a:spcPts val="113"/>
              </a:spcBef>
              <a:buNone/>
            </a:pPr>
            <a:r>
              <a:rPr lang="en-US" sz="4400" dirty="0" err="1">
                <a:latin typeface="Gill Sans MT"/>
                <a:cs typeface="Gill Sans MT"/>
              </a:rPr>
              <a:t>Terima</a:t>
            </a:r>
            <a:r>
              <a:rPr lang="en-US" sz="4400" dirty="0">
                <a:latin typeface="Gill Sans MT"/>
                <a:cs typeface="Gill Sans MT"/>
              </a:rPr>
              <a:t> Kasih</a:t>
            </a:r>
            <a:endParaRPr sz="4400" dirty="0">
              <a:latin typeface="Gill Sans MT"/>
              <a:cs typeface="Gill Sans MT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6F259223-1B45-B4A5-CAD4-3CEC05C642E4}"/>
              </a:ext>
            </a:extLst>
          </p:cNvPr>
          <p:cNvSpPr/>
          <p:nvPr/>
        </p:nvSpPr>
        <p:spPr>
          <a:xfrm>
            <a:off x="803927" y="4647686"/>
            <a:ext cx="5576993" cy="1392899"/>
          </a:xfrm>
          <a:custGeom>
            <a:avLst/>
            <a:gdLst/>
            <a:ahLst/>
            <a:cxnLst/>
            <a:rect l="l" t="t" r="r" b="b"/>
            <a:pathLst>
              <a:path w="4182745" h="1990089">
                <a:moveTo>
                  <a:pt x="3850942" y="1989895"/>
                </a:moveTo>
                <a:lnTo>
                  <a:pt x="331656" y="1989895"/>
                </a:lnTo>
                <a:lnTo>
                  <a:pt x="282646" y="1986299"/>
                </a:lnTo>
                <a:lnTo>
                  <a:pt x="235869" y="1975853"/>
                </a:lnTo>
                <a:lnTo>
                  <a:pt x="191838" y="1959069"/>
                </a:lnTo>
                <a:lnTo>
                  <a:pt x="151065" y="1936461"/>
                </a:lnTo>
                <a:lnTo>
                  <a:pt x="114065" y="1908542"/>
                </a:lnTo>
                <a:lnTo>
                  <a:pt x="81349" y="1875826"/>
                </a:lnTo>
                <a:lnTo>
                  <a:pt x="53431" y="1838826"/>
                </a:lnTo>
                <a:lnTo>
                  <a:pt x="30824" y="1798055"/>
                </a:lnTo>
                <a:lnTo>
                  <a:pt x="14041" y="1754025"/>
                </a:lnTo>
                <a:lnTo>
                  <a:pt x="3595" y="1707251"/>
                </a:lnTo>
                <a:lnTo>
                  <a:pt x="0" y="1658246"/>
                </a:lnTo>
                <a:lnTo>
                  <a:pt x="0" y="331649"/>
                </a:lnTo>
                <a:lnTo>
                  <a:pt x="3595" y="282644"/>
                </a:lnTo>
                <a:lnTo>
                  <a:pt x="14041" y="235870"/>
                </a:lnTo>
                <a:lnTo>
                  <a:pt x="30824" y="191840"/>
                </a:lnTo>
                <a:lnTo>
                  <a:pt x="53431" y="151069"/>
                </a:lnTo>
                <a:lnTo>
                  <a:pt x="81349" y="114069"/>
                </a:lnTo>
                <a:lnTo>
                  <a:pt x="114065" y="81353"/>
                </a:lnTo>
                <a:lnTo>
                  <a:pt x="151065" y="53434"/>
                </a:lnTo>
                <a:lnTo>
                  <a:pt x="191838" y="30826"/>
                </a:lnTo>
                <a:lnTo>
                  <a:pt x="235869" y="14042"/>
                </a:lnTo>
                <a:lnTo>
                  <a:pt x="282646" y="3596"/>
                </a:lnTo>
                <a:lnTo>
                  <a:pt x="331656" y="0"/>
                </a:lnTo>
                <a:lnTo>
                  <a:pt x="3850942" y="0"/>
                </a:lnTo>
                <a:lnTo>
                  <a:pt x="3903131" y="4132"/>
                </a:lnTo>
                <a:lnTo>
                  <a:pt x="3953566" y="16283"/>
                </a:lnTo>
                <a:lnTo>
                  <a:pt x="4001357" y="36082"/>
                </a:lnTo>
                <a:lnTo>
                  <a:pt x="4045612" y="63161"/>
                </a:lnTo>
                <a:lnTo>
                  <a:pt x="4085441" y="97149"/>
                </a:lnTo>
                <a:lnTo>
                  <a:pt x="4119430" y="136979"/>
                </a:lnTo>
                <a:lnTo>
                  <a:pt x="4146508" y="181234"/>
                </a:lnTo>
                <a:lnTo>
                  <a:pt x="4166308" y="229024"/>
                </a:lnTo>
                <a:lnTo>
                  <a:pt x="4178459" y="279459"/>
                </a:lnTo>
                <a:lnTo>
                  <a:pt x="4182591" y="331649"/>
                </a:lnTo>
                <a:lnTo>
                  <a:pt x="4182591" y="1658246"/>
                </a:lnTo>
                <a:lnTo>
                  <a:pt x="4178995" y="1707251"/>
                </a:lnTo>
                <a:lnTo>
                  <a:pt x="4168548" y="1754025"/>
                </a:lnTo>
                <a:lnTo>
                  <a:pt x="4151764" y="1798055"/>
                </a:lnTo>
                <a:lnTo>
                  <a:pt x="4129156" y="1838826"/>
                </a:lnTo>
                <a:lnTo>
                  <a:pt x="4101238" y="1875826"/>
                </a:lnTo>
                <a:lnTo>
                  <a:pt x="4068522" y="1908542"/>
                </a:lnTo>
                <a:lnTo>
                  <a:pt x="4031522" y="1936461"/>
                </a:lnTo>
                <a:lnTo>
                  <a:pt x="3990750" y="1959069"/>
                </a:lnTo>
                <a:lnTo>
                  <a:pt x="3946721" y="1975853"/>
                </a:lnTo>
                <a:lnTo>
                  <a:pt x="3899947" y="1986299"/>
                </a:lnTo>
                <a:lnTo>
                  <a:pt x="3850942" y="1989895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3BCB2E-3FDB-89CA-8CC5-9573EE7B1DA9}"/>
              </a:ext>
            </a:extLst>
          </p:cNvPr>
          <p:cNvSpPr txBox="1"/>
          <p:nvPr/>
        </p:nvSpPr>
        <p:spPr>
          <a:xfrm>
            <a:off x="1277551" y="4836303"/>
            <a:ext cx="4629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sap"/>
              </a:rPr>
              <a:t>Link GitHub: https://github.com/clexanp/Final-Project-Home-Credit-Scoring-Project.git</a:t>
            </a:r>
            <a:endParaRPr lang="en-ID" sz="2000" dirty="0">
              <a:latin typeface="Asap"/>
            </a:endParaRPr>
          </a:p>
        </p:txBody>
      </p:sp>
    </p:spTree>
    <p:extLst>
      <p:ext uri="{BB962C8B-B14F-4D97-AF65-F5344CB8AC3E}">
        <p14:creationId xmlns:p14="http://schemas.microsoft.com/office/powerpoint/2010/main" val="59020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416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Asap</vt:lpstr>
      <vt:lpstr>Calibri</vt:lpstr>
      <vt:lpstr>Calibri Light</vt:lpstr>
      <vt:lpstr>Gill Sans MT</vt:lpstr>
      <vt:lpstr>Noto Serif Bengali SemiCondensed Heavy</vt:lpstr>
      <vt:lpstr>Tahoma</vt:lpstr>
      <vt:lpstr>Office Theme</vt:lpstr>
      <vt:lpstr>Virtual Internship Experience</vt:lpstr>
      <vt:lpstr>PowerPoint Presentation</vt:lpstr>
      <vt:lpstr>PowerPoint Presentation</vt:lpstr>
      <vt:lpstr>PowerPoint Presentation</vt:lpstr>
      <vt:lpstr>PowerPoint Presentation</vt:lpstr>
      <vt:lpstr>Virtual Internship Experience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raihanazharrafi@gmail.com</dc:creator>
  <cp:lastModifiedBy>raihanazharrafi@gmail.com</cp:lastModifiedBy>
  <cp:revision>2</cp:revision>
  <dcterms:created xsi:type="dcterms:W3CDTF">2026-05-04T13:19:52Z</dcterms:created>
  <dcterms:modified xsi:type="dcterms:W3CDTF">2026-05-04T16:26:53Z</dcterms:modified>
</cp:coreProperties>
</file>